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MAZ (Micro Analysis Zone)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7F8C8D"/>
                </a:solidFill>
              </a:defRPr>
            </a:pPr>
            <a:r>
              <a:t>Finest Geographic Level: 39,586 zones • Housing Units &amp; Group Quarters • 2020/2010 Interpolation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5669280" cy="4572000"/>
          </a:xfrm>
          <a:prstGeom prst="rect">
            <a:avLst/>
          </a:prstGeom>
          <a:solidFill>
            <a:srgbClr val="ADD8E6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Housing Unit Categories:</a:t>
            </a:r>
            <a:br/>
            <a:br/>
            <a:r>
              <a:t>• Total Households (numhh_gq)</a:t>
            </a:r>
            <a:br/>
            <a:r>
              <a:t>• University Group Quarters (gq_type_univ)</a:t>
            </a:r>
            <a:br/>
            <a:r>
              <a:t>• Non-institutional Group Quarters (gq_type_noninst)</a:t>
            </a:r>
            <a:br/>
            <a:br/>
            <a:r>
              <a:t>Geographic Coverage:</a:t>
            </a:r>
            <a:br/>
            <a:r>
              <a:t>• 39,586 MAZ zones across Bay Area</a:t>
            </a:r>
            <a:br/>
            <a:r>
              <a:t>• Finest level of geographic detail</a:t>
            </a:r>
            <a:br/>
            <a:r>
              <a:t>• Building block for TAZ aggregation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669280" cy="4572000"/>
          </a:xfrm>
          <a:prstGeom prst="rect">
            <a:avLst/>
          </a:prstGeom>
          <a:solidFill>
            <a:srgbClr val="D3D3D3"/>
          </a:solidFill>
          <a:ln w="381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Data Sources &amp; Methodology:</a:t>
            </a:r>
            <a:br/>
            <a:br/>
            <a:r>
              <a:t>Primary Sources:</a:t>
            </a:r>
            <a:br/>
            <a:r>
              <a:t>• 2020 Census (block level counts)</a:t>
            </a:r>
            <a:br/>
            <a:r>
              <a:t>• 2020/2010 NHGIS interpolation</a:t>
            </a:r>
            <a:br/>
            <a:r>
              <a:t>• Geographic allocation methods</a:t>
            </a:r>
            <a:br/>
            <a:br/>
            <a:r>
              <a:t>Processing Steps:</a:t>
            </a:r>
            <a:br/>
            <a:r>
              <a:t>• Block-to-MAZ aggregation</a:t>
            </a:r>
            <a:br/>
            <a:r>
              <a:t>• Group quarters identification</a:t>
            </a:r>
            <a:br/>
            <a:r>
              <a:t>• Institutional vs. non-institutional classification</a:t>
            </a:r>
            <a:br/>
            <a:r>
              <a:t>• Quality validation against regional totals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TAZ (Traffic Analysis Zone)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7F8C8D"/>
                </a:solidFill>
              </a:defRPr>
            </a:pPr>
            <a:r>
              <a:t>Transportation Level: 4,734 zones • Household &amp; Person Demographics • 2020/2010 Interpolation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3840480" cy="2560320"/>
          </a:xfrm>
          <a:prstGeom prst="rect">
            <a:avLst/>
          </a:prstGeom>
          <a:solidFill>
            <a:srgbClr val="90EE9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Income Distribution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Households by Income:</a:t>
            </a:r>
            <a:br/>
            <a:br/>
            <a:r>
              <a:t>• Under $30,000</a:t>
            </a:r>
            <a:br/>
            <a:r>
              <a:t>• $30,000 to $60,000</a:t>
            </a:r>
            <a:br/>
            <a:r>
              <a:t>• $60,000 to $100,000</a:t>
            </a:r>
            <a:br/>
            <a:r>
              <a:t>• $100,000 to $150,000</a:t>
            </a:r>
            <a:br/>
            <a:r>
              <a:t>• $150,000 to $200,000</a:t>
            </a:r>
            <a:br/>
            <a:r>
              <a:t>• $200,000 to $250,000</a:t>
            </a:r>
            <a:br/>
            <a:r>
              <a:t>• $250,000 to $300,000</a:t>
            </a:r>
            <a:br/>
            <a:r>
              <a:t>• $300,000 and above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463040"/>
            <a:ext cx="3840480" cy="2560320"/>
          </a:xfrm>
          <a:prstGeom prst="rect">
            <a:avLst/>
          </a:prstGeom>
          <a:solidFill>
            <a:srgbClr val="FFFFE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Age Distribution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Persons by Age Group:</a:t>
            </a:r>
            <a:br/>
            <a:br/>
            <a:r>
              <a:t>• Ages 0-17</a:t>
            </a:r>
            <a:br/>
            <a:r>
              <a:t>• Ages 18-64</a:t>
            </a:r>
            <a:br/>
            <a:r>
              <a:t>• Ages 65-79</a:t>
            </a:r>
            <a:br/>
            <a:r>
              <a:t>• Ages 80+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463040"/>
            <a:ext cx="3840480" cy="2560320"/>
          </a:xfrm>
          <a:prstGeom prst="rect">
            <a:avLst/>
          </a:prstGeom>
          <a:solidFill>
            <a:srgbClr val="F0808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Household Size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Households by Size:</a:t>
            </a:r>
            <a:br/>
            <a:br/>
            <a:r>
              <a:t>• 1-person household</a:t>
            </a:r>
            <a:br/>
            <a:r>
              <a:t>• 2-person household</a:t>
            </a:r>
            <a:br/>
            <a:r>
              <a:t>• 3-person household</a:t>
            </a:r>
            <a:br/>
            <a:r>
              <a:t>• 4-person household</a:t>
            </a:r>
            <a:br/>
            <a:r>
              <a:t>• 5-person household</a:t>
            </a:r>
            <a:br/>
            <a:r>
              <a:t>• 6+ person household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14800"/>
            <a:ext cx="3840480" cy="2560320"/>
          </a:xfrm>
          <a:prstGeom prst="rect">
            <a:avLst/>
          </a:prstGeom>
          <a:solidFill>
            <a:srgbClr val="B0C4D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2062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Worker Distribution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Households by Workers:</a:t>
            </a:r>
            <a:br/>
            <a:br/>
            <a:r>
              <a:t>• 0 workers</a:t>
            </a:r>
            <a:br/>
            <a:r>
              <a:t>• 1 worker</a:t>
            </a:r>
            <a:br/>
            <a:r>
              <a:t>• 2 workers</a:t>
            </a:r>
            <a:br/>
            <a:r>
              <a:t>• 3+ workers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4114800"/>
            <a:ext cx="3840480" cy="2560320"/>
          </a:xfrm>
          <a:prstGeom prst="rect">
            <a:avLst/>
          </a:prstGeom>
          <a:solidFill>
            <a:srgbClr val="F5DEB3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2062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Additional Controls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Additional Categories:</a:t>
            </a:r>
            <a:br/>
            <a:r>
              <a:t>• Households with Children (Yes/No)</a:t>
            </a:r>
            <a:br/>
            <a:r>
              <a:t>• Single-Person Group Quarters</a:t>
            </a:r>
            <a:br/>
            <a:br/>
            <a:r>
              <a:t>Geographic Coverage:</a:t>
            </a:r>
            <a:br/>
            <a:r>
              <a:t>• 4,734 TAZ zones</a:t>
            </a:r>
            <a:br/>
            <a:r>
              <a:t>• Transportation modeling units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114800"/>
            <a:ext cx="3840480" cy="2560320"/>
          </a:xfrm>
          <a:prstGeom prst="rect">
            <a:avLst/>
          </a:prstGeom>
          <a:solidFill>
            <a:srgbClr val="D3D3D3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Data Sources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Data Sources:</a:t>
            </a:r>
            <a:br/>
            <a:r>
              <a:t>• 2020/2010 NHGIS interpolation</a:t>
            </a:r>
            <a:br/>
            <a:r>
              <a:t>• Census block group mapping</a:t>
            </a:r>
            <a:br/>
            <a:r>
              <a:t>• Geographic allocation methods</a:t>
            </a:r>
            <a:br/>
            <a:br/>
            <a:r>
              <a:t>Processing:</a:t>
            </a:r>
            <a:br/>
            <a:r>
              <a:t>• Spatial disaggregation</a:t>
            </a:r>
            <a:br/>
            <a:r>
              <a:t>• Control harmonization</a:t>
            </a:r>
            <a:br/>
            <a:r>
              <a:t>• Quality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County Level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7F8C8D"/>
                </a:solidFill>
              </a:defRPr>
            </a:pPr>
            <a:r>
              <a:t>Regional Level: 9 counties • Employment by Occupation • 2020/2010 Interpolation + SOCP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5669280" cy="2560320"/>
          </a:xfrm>
          <a:prstGeom prst="rect">
            <a:avLst/>
          </a:prstGeom>
          <a:solidFill>
            <a:srgbClr val="FFB6C1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Geographic Coverage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Bay Area Counties:</a:t>
            </a:r>
            <a:br/>
            <a:br/>
            <a:r>
              <a:t>• San Francisco County</a:t>
            </a:r>
            <a:br/>
            <a:r>
              <a:t>• San Mateo County</a:t>
            </a:r>
            <a:br/>
            <a:r>
              <a:t>• Santa Clara County</a:t>
            </a:r>
            <a:br/>
            <a:r>
              <a:t>• Alameda County</a:t>
            </a:r>
            <a:br/>
            <a:r>
              <a:t>• Contra Costa County</a:t>
            </a:r>
            <a:br/>
            <a:r>
              <a:t>• Solano County</a:t>
            </a:r>
            <a:br/>
            <a:r>
              <a:t>• Napa County</a:t>
            </a:r>
            <a:br/>
            <a:r>
              <a:t>• Sonoma County</a:t>
            </a:r>
            <a:br/>
            <a:r>
              <a:t>• Marin County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669280" cy="2560320"/>
          </a:xfrm>
          <a:prstGeom prst="rect">
            <a:avLst/>
          </a:prstGeom>
          <a:solidFill>
            <a:srgbClr val="E6E6FA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830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Employment Categories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Persons by Occupation:</a:t>
            </a:r>
            <a:br/>
            <a:br/>
            <a:r>
              <a:t>• Professional and Related</a:t>
            </a:r>
            <a:br/>
            <a:r>
              <a:t>• Management and Business</a:t>
            </a:r>
            <a:br/>
            <a:r>
              <a:t>• Service Occupations</a:t>
            </a:r>
            <a:br/>
            <a:r>
              <a:t>• Sales and Office</a:t>
            </a:r>
            <a:br/>
            <a:r>
              <a:t>• Manual and Military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97680"/>
            <a:ext cx="5669280" cy="2560320"/>
          </a:xfrm>
          <a:prstGeom prst="rect">
            <a:avLst/>
          </a:prstGeom>
          <a:solidFill>
            <a:srgbClr val="D3D3D3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Data Sources &amp; Geography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Data Sources:</a:t>
            </a:r>
            <a:br/>
            <a:r>
              <a:t>• 2020/2010 NHGIS interpolation</a:t>
            </a:r>
            <a:br/>
            <a:r>
              <a:t>• SOCP occupation codes</a:t>
            </a:r>
            <a:br/>
            <a:r>
              <a:t>• County-level aggregation</a:t>
            </a:r>
            <a:br/>
            <a:r>
              <a:t>• Census geographic boundaries</a:t>
            </a:r>
            <a:br/>
            <a:br/>
            <a:r>
              <a:t>Geographic Framework:</a:t>
            </a:r>
            <a:br/>
            <a:r>
              <a:t>• 9-county Bay Area region</a:t>
            </a:r>
            <a:br/>
            <a:r>
              <a:t>• Standard metropolitan area</a:t>
            </a:r>
            <a:br/>
            <a:r>
              <a:t>• Regional planning 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297680"/>
            <a:ext cx="5669280" cy="2560320"/>
          </a:xfrm>
          <a:prstGeom prst="rect">
            <a:avLst/>
          </a:prstGeom>
          <a:solidFill>
            <a:srgbClr val="E0FFFF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43484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Processing &amp; Validation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Employment Classification:</a:t>
            </a:r>
            <a:br/>
            <a:r>
              <a:t>• SOCP to 5-category mapping</a:t>
            </a:r>
            <a:br/>
            <a:r>
              <a:t>• Professional vs. service workers</a:t>
            </a:r>
            <a:br/>
            <a:r>
              <a:t>• Management hierarchy</a:t>
            </a:r>
            <a:br/>
            <a:r>
              <a:t>• Manual labor &amp; military</a:t>
            </a:r>
            <a:br/>
            <a:br/>
            <a:r>
              <a:t>Quality Assurance:</a:t>
            </a:r>
            <a:br/>
            <a:r>
              <a:t>• Regional employment totals</a:t>
            </a:r>
            <a:br/>
            <a:r>
              <a:t>• Industry sector validation</a:t>
            </a:r>
            <a:br/>
            <a:r>
              <a:t>• Cross-county consistency</a:t>
            </a:r>
            <a:br/>
            <a:r>
              <a:t>• Labor force participation rates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